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1675"/>
  <p:notesSz cx="6858000" cy="12191675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JvzxXqliNx3odiIrIx1YPoDRA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C81FC9-FC8C-4442-AE4A-2CFAE799D46C}">
  <a:tblStyle styleId="{DDC81FC9-FC8C-4442-AE4A-2CFAE799D4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Play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a021711a2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ea021711a2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ea021711a2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a021711a2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ea021711a2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ea021711a2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wide_high_resolution_abstract_tech_visualizatio_batch_1_dark.png" id="16" name="Google Shape;16;p1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-119050" y="0"/>
            <a:ext cx="1219169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594360" y="868680"/>
            <a:ext cx="6217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7FAFC"/>
                </a:solidFill>
                <a:latin typeface="Play"/>
                <a:ea typeface="Play"/>
                <a:cs typeface="Play"/>
                <a:sym typeface="Play"/>
              </a:rPr>
              <a:t>Modelo XGBoost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7FAFC"/>
                </a:solidFill>
                <a:latin typeface="Play"/>
                <a:ea typeface="Play"/>
                <a:cs typeface="Play"/>
                <a:sym typeface="Play"/>
              </a:rPr>
              <a:t>de riesgo de no pago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21792" y="2331720"/>
            <a:ext cx="6126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5C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7B5C7"/>
                </a:solidFill>
                <a:latin typeface="Arial"/>
                <a:ea typeface="Arial"/>
                <a:cs typeface="Arial"/>
                <a:sym typeface="Arial"/>
              </a:rPr>
              <a:t>Probabilidad de pagar al menos el mínimo antes de la fecha límite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069080" y="4032504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059168" y="3447288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D68D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059168" y="4032504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640080" y="5870448"/>
            <a:ext cx="6035040" cy="0"/>
          </a:xfrm>
          <a:prstGeom prst="straightConnector1">
            <a:avLst/>
          </a:prstGeom>
          <a:noFill/>
          <a:ln cap="flat" cmpd="sng" w="15225">
            <a:solidFill>
              <a:srgbClr val="00C2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/>
          <p:nvPr/>
        </p:nvSpPr>
        <p:spPr>
          <a:xfrm>
            <a:off x="640080" y="598932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5C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A7B5C7"/>
                </a:solidFill>
              </a:rPr>
              <a:t>Juan Manuel Mendoza </a:t>
            </a:r>
            <a:endParaRPr sz="1050">
              <a:solidFill>
                <a:srgbClr val="A7B5C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5C7"/>
              </a:buClr>
              <a:buSzPts val="1050"/>
              <a:buFont typeface="Arial"/>
              <a:buNone/>
            </a:pPr>
            <a:r>
              <a:t/>
            </a:r>
            <a:endParaRPr sz="1050">
              <a:solidFill>
                <a:srgbClr val="A7B5C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wide_cinematic_office_command_center_scene_a_m_batch_2_dark.png" id="29" name="Google Shape;29;p2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"/>
          <p:cNvSpPr/>
          <p:nvPr/>
        </p:nvSpPr>
        <p:spPr>
          <a:xfrm>
            <a:off x="457200" y="2926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7FAFC"/>
                </a:solidFill>
                <a:latin typeface="Play"/>
                <a:ea typeface="Play"/>
                <a:cs typeface="Play"/>
                <a:sym typeface="Play"/>
              </a:rPr>
              <a:t>La decisión de negocio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2"/>
          <p:cNvCxnSpPr/>
          <p:nvPr/>
        </p:nvCxnSpPr>
        <p:spPr>
          <a:xfrm>
            <a:off x="457200" y="804672"/>
            <a:ext cx="1097280" cy="0"/>
          </a:xfrm>
          <a:prstGeom prst="straightConnector1">
            <a:avLst/>
          </a:prstGeom>
          <a:noFill/>
          <a:ln cap="flat" cmpd="sng" w="30475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"/>
          <p:cNvSpPr/>
          <p:nvPr/>
        </p:nvSpPr>
        <p:spPr>
          <a:xfrm>
            <a:off x="594360" y="1051560"/>
            <a:ext cx="5760720" cy="960120"/>
          </a:xfrm>
          <a:prstGeom prst="roundRect">
            <a:avLst>
              <a:gd fmla="val 7619" name="adj"/>
            </a:avLst>
          </a:prstGeom>
          <a:solidFill>
            <a:srgbClr val="07111F"/>
          </a:solidFill>
          <a:ln cap="flat" cmpd="sng" w="13950">
            <a:solidFill>
              <a:srgbClr val="00C2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22960" y="129844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En cada fecha de corte necesitamos priorizar qué usuarios tienen mayor riesgo de no pagar el mínimo antes de la fecha límite.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94360" y="2514600"/>
            <a:ext cx="3337560" cy="1691640"/>
          </a:xfrm>
          <a:prstGeom prst="roundRect">
            <a:avLst>
              <a:gd fmla="val 4324" name="adj"/>
            </a:avLst>
          </a:prstGeom>
          <a:solidFill>
            <a:srgbClr val="0C2034">
              <a:alpha val="92156"/>
            </a:srgbClr>
          </a:solidFill>
          <a:ln cap="flat" cmpd="sng" w="13950">
            <a:solidFill>
              <a:srgbClr val="FF6B6B">
                <a:alpha val="7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822960" y="27432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22960" y="315468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No todos los usuarios requieren la misma intensidad de comunicación.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343400" y="2514600"/>
            <a:ext cx="3337560" cy="1691640"/>
          </a:xfrm>
          <a:prstGeom prst="roundRect">
            <a:avLst>
              <a:gd fmla="val 4324" name="adj"/>
            </a:avLst>
          </a:prstGeom>
          <a:solidFill>
            <a:srgbClr val="0C2034">
              <a:alpha val="92156"/>
            </a:srgbClr>
          </a:solidFill>
          <a:ln cap="flat" cmpd="sng" w="13950">
            <a:solidFill>
              <a:srgbClr val="00C2FF">
                <a:alpha val="7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572000" y="27432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C2FF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0" y="315468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Asigna probabilidad individual de pago y no pago.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092440" y="2514600"/>
            <a:ext cx="3337560" cy="1691640"/>
          </a:xfrm>
          <a:prstGeom prst="roundRect">
            <a:avLst>
              <a:gd fmla="val 4324" name="adj"/>
            </a:avLst>
          </a:prstGeom>
          <a:solidFill>
            <a:srgbClr val="0C2034">
              <a:alpha val="92156"/>
            </a:srgbClr>
          </a:solidFill>
          <a:ln cap="flat" cmpd="sng" w="13950">
            <a:solidFill>
              <a:srgbClr val="58D68D">
                <a:alpha val="7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321040" y="27432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D68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8D68D"/>
                </a:solidFill>
                <a:latin typeface="Arial"/>
                <a:ea typeface="Arial"/>
                <a:cs typeface="Arial"/>
                <a:sym typeface="Arial"/>
              </a:rPr>
              <a:t>Valor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321040" y="315468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7FAFC"/>
                </a:solidFill>
              </a:rPr>
              <a:t>Produce output accionable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94360" y="4892040"/>
            <a:ext cx="10927080" cy="731520"/>
          </a:xfrm>
          <a:prstGeom prst="roundRect">
            <a:avLst>
              <a:gd fmla="val 10000" name="adj"/>
            </a:avLst>
          </a:prstGeom>
          <a:solidFill>
            <a:srgbClr val="07111F"/>
          </a:solidFill>
          <a:ln cap="flat" cmpd="sng" w="13950">
            <a:solidFill>
              <a:srgbClr val="FFB24A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22960" y="5102352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La métrica clave no es solo accuracy: es capturar más no pagadores dentro de los primeros deciles de riesgo.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457200" y="2926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7FAFC"/>
                </a:solidFill>
                <a:latin typeface="Play"/>
                <a:ea typeface="Play"/>
                <a:cs typeface="Play"/>
                <a:sym typeface="Play"/>
              </a:rPr>
              <a:t>CRISP-DM aplicado al modelo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" name="Google Shape;51;p3"/>
          <p:cNvCxnSpPr/>
          <p:nvPr/>
        </p:nvCxnSpPr>
        <p:spPr>
          <a:xfrm>
            <a:off x="457200" y="804672"/>
            <a:ext cx="1097280" cy="0"/>
          </a:xfrm>
          <a:prstGeom prst="straightConnector1">
            <a:avLst/>
          </a:prstGeom>
          <a:noFill/>
          <a:ln cap="flat" cmpd="sng" w="30475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3"/>
          <p:cNvSpPr/>
          <p:nvPr/>
        </p:nvSpPr>
        <p:spPr>
          <a:xfrm>
            <a:off x="457200" y="868680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5C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A7B5C7"/>
                </a:solidFill>
                <a:latin typeface="Arial"/>
                <a:ea typeface="Arial"/>
                <a:cs typeface="Arial"/>
                <a:sym typeface="Arial"/>
              </a:rPr>
              <a:t>Se documentó el proyecto en seis fases para conectar metodología técnica con decisiones de negocio.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45950" y="2836535"/>
            <a:ext cx="1572900" cy="1143000"/>
          </a:xfrm>
          <a:prstGeom prst="roundRect">
            <a:avLst>
              <a:gd fmla="val 6400" name="adj"/>
            </a:avLst>
          </a:prstGeom>
          <a:solidFill>
            <a:srgbClr val="0D2238">
              <a:alpha val="92156"/>
            </a:srgbClr>
          </a:solidFill>
          <a:ln cap="flat" cmpd="sng" w="13950">
            <a:solidFill>
              <a:srgbClr val="00C2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737390" y="3001127"/>
            <a:ext cx="138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C2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737390" y="3458327"/>
            <a:ext cx="138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Negocio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3"/>
          <p:cNvCxnSpPr/>
          <p:nvPr/>
        </p:nvCxnSpPr>
        <p:spPr>
          <a:xfrm>
            <a:off x="2246150" y="3403463"/>
            <a:ext cx="237600" cy="0"/>
          </a:xfrm>
          <a:prstGeom prst="straightConnector1">
            <a:avLst/>
          </a:prstGeom>
          <a:noFill/>
          <a:ln cap="flat" cmpd="sng" w="19050">
            <a:solidFill>
              <a:srgbClr val="5570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" name="Google Shape;57;p3"/>
          <p:cNvSpPr/>
          <p:nvPr/>
        </p:nvSpPr>
        <p:spPr>
          <a:xfrm>
            <a:off x="2511326" y="2836535"/>
            <a:ext cx="1572900" cy="1143000"/>
          </a:xfrm>
          <a:prstGeom prst="roundRect">
            <a:avLst>
              <a:gd fmla="val 6400" name="adj"/>
            </a:avLst>
          </a:prstGeom>
          <a:solidFill>
            <a:srgbClr val="0D2238">
              <a:alpha val="92156"/>
            </a:srgbClr>
          </a:solidFill>
          <a:ln cap="flat" cmpd="sng" w="13950">
            <a:solidFill>
              <a:srgbClr val="0FCDC7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2602766" y="3001127"/>
            <a:ext cx="138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CDC7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CDC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602766" y="3458327"/>
            <a:ext cx="138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3"/>
          <p:cNvCxnSpPr/>
          <p:nvPr/>
        </p:nvCxnSpPr>
        <p:spPr>
          <a:xfrm>
            <a:off x="4111526" y="3403463"/>
            <a:ext cx="237600" cy="0"/>
          </a:xfrm>
          <a:prstGeom prst="straightConnector1">
            <a:avLst/>
          </a:prstGeom>
          <a:noFill/>
          <a:ln cap="flat" cmpd="sng" w="19050">
            <a:solidFill>
              <a:srgbClr val="5570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" name="Google Shape;61;p3"/>
          <p:cNvSpPr/>
          <p:nvPr/>
        </p:nvSpPr>
        <p:spPr>
          <a:xfrm>
            <a:off x="4376702" y="2836535"/>
            <a:ext cx="1572900" cy="1143000"/>
          </a:xfrm>
          <a:prstGeom prst="roundRect">
            <a:avLst>
              <a:gd fmla="val 6400" name="adj"/>
            </a:avLst>
          </a:prstGeom>
          <a:solidFill>
            <a:srgbClr val="0D2238">
              <a:alpha val="92156"/>
            </a:srgbClr>
          </a:solidFill>
          <a:ln cap="flat" cmpd="sng" w="13950">
            <a:solidFill>
              <a:srgbClr val="FFB24A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468142" y="3001127"/>
            <a:ext cx="138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24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B24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468142" y="3458327"/>
            <a:ext cx="138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Preparación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3"/>
          <p:cNvCxnSpPr/>
          <p:nvPr/>
        </p:nvCxnSpPr>
        <p:spPr>
          <a:xfrm>
            <a:off x="5976902" y="3403463"/>
            <a:ext cx="237600" cy="0"/>
          </a:xfrm>
          <a:prstGeom prst="straightConnector1">
            <a:avLst/>
          </a:prstGeom>
          <a:noFill/>
          <a:ln cap="flat" cmpd="sng" w="19050">
            <a:solidFill>
              <a:srgbClr val="5570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" name="Google Shape;65;p3"/>
          <p:cNvSpPr/>
          <p:nvPr/>
        </p:nvSpPr>
        <p:spPr>
          <a:xfrm>
            <a:off x="6242078" y="2836535"/>
            <a:ext cx="1572900" cy="1143000"/>
          </a:xfrm>
          <a:prstGeom prst="roundRect">
            <a:avLst>
              <a:gd fmla="val 6400" name="adj"/>
            </a:avLst>
          </a:prstGeom>
          <a:solidFill>
            <a:srgbClr val="0D2238">
              <a:alpha val="92156"/>
            </a:srgbClr>
          </a:solidFill>
          <a:ln cap="flat" cmpd="sng" w="13950">
            <a:solidFill>
              <a:srgbClr val="00C2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333518" y="3001127"/>
            <a:ext cx="138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C2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333518" y="3458327"/>
            <a:ext cx="138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Modelado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" name="Google Shape;68;p3"/>
          <p:cNvCxnSpPr/>
          <p:nvPr/>
        </p:nvCxnSpPr>
        <p:spPr>
          <a:xfrm>
            <a:off x="7842278" y="3403463"/>
            <a:ext cx="237600" cy="0"/>
          </a:xfrm>
          <a:prstGeom prst="straightConnector1">
            <a:avLst/>
          </a:prstGeom>
          <a:noFill/>
          <a:ln cap="flat" cmpd="sng" w="19050">
            <a:solidFill>
              <a:srgbClr val="5570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" name="Google Shape;69;p3"/>
          <p:cNvSpPr/>
          <p:nvPr/>
        </p:nvSpPr>
        <p:spPr>
          <a:xfrm>
            <a:off x="8107454" y="2836535"/>
            <a:ext cx="1572900" cy="1143000"/>
          </a:xfrm>
          <a:prstGeom prst="roundRect">
            <a:avLst>
              <a:gd fmla="val 6400" name="adj"/>
            </a:avLst>
          </a:prstGeom>
          <a:solidFill>
            <a:srgbClr val="0D2238">
              <a:alpha val="92156"/>
            </a:srgbClr>
          </a:solidFill>
          <a:ln cap="flat" cmpd="sng" w="13950">
            <a:solidFill>
              <a:srgbClr val="0FCDC7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8198894" y="3001127"/>
            <a:ext cx="138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CDC7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CDC7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198894" y="3458327"/>
            <a:ext cx="138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Evaluación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p3"/>
          <p:cNvCxnSpPr/>
          <p:nvPr/>
        </p:nvCxnSpPr>
        <p:spPr>
          <a:xfrm>
            <a:off x="9707654" y="3403463"/>
            <a:ext cx="237600" cy="0"/>
          </a:xfrm>
          <a:prstGeom prst="straightConnector1">
            <a:avLst/>
          </a:prstGeom>
          <a:noFill/>
          <a:ln cap="flat" cmpd="sng" w="19050">
            <a:solidFill>
              <a:srgbClr val="5570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" name="Google Shape;73;p3"/>
          <p:cNvSpPr/>
          <p:nvPr/>
        </p:nvSpPr>
        <p:spPr>
          <a:xfrm>
            <a:off x="9972830" y="2836535"/>
            <a:ext cx="1572900" cy="1143000"/>
          </a:xfrm>
          <a:prstGeom prst="roundRect">
            <a:avLst>
              <a:gd fmla="val 6400" name="adj"/>
            </a:avLst>
          </a:prstGeom>
          <a:solidFill>
            <a:srgbClr val="0D2238">
              <a:alpha val="92156"/>
            </a:srgbClr>
          </a:solidFill>
          <a:ln cap="flat" cmpd="sng" w="13950">
            <a:solidFill>
              <a:srgbClr val="58D68D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10064270" y="3001127"/>
            <a:ext cx="138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D68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58D68D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0064270" y="3458327"/>
            <a:ext cx="138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Despliegue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4468150" y="4095175"/>
            <a:ext cx="1389900" cy="19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a021711a2_0_1"/>
          <p:cNvSpPr/>
          <p:nvPr/>
        </p:nvSpPr>
        <p:spPr>
          <a:xfrm>
            <a:off x="457200" y="292608"/>
            <a:ext cx="10881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F7FAFC"/>
                </a:solidFill>
                <a:latin typeface="Play"/>
                <a:ea typeface="Play"/>
                <a:cs typeface="Play"/>
                <a:sym typeface="Play"/>
              </a:rPr>
              <a:t>Datos y Preparación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g3ea021711a2_0_1"/>
          <p:cNvCxnSpPr/>
          <p:nvPr/>
        </p:nvCxnSpPr>
        <p:spPr>
          <a:xfrm>
            <a:off x="457200" y="804672"/>
            <a:ext cx="3144600" cy="18900"/>
          </a:xfrm>
          <a:prstGeom prst="straightConnector1">
            <a:avLst/>
          </a:prstGeom>
          <a:noFill/>
          <a:ln cap="flat" cmpd="sng" w="30475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g3ea021711a2_0_1"/>
          <p:cNvSpPr/>
          <p:nvPr/>
        </p:nvSpPr>
        <p:spPr>
          <a:xfrm>
            <a:off x="1766100" y="1124900"/>
            <a:ext cx="9078600" cy="4818300"/>
          </a:xfrm>
          <a:prstGeom prst="roundRect">
            <a:avLst>
              <a:gd fmla="val 6400" name="adj"/>
            </a:avLst>
          </a:prstGeom>
          <a:solidFill>
            <a:srgbClr val="0D2238">
              <a:alpha val="92160"/>
            </a:srgbClr>
          </a:solidFill>
          <a:ln cap="flat" cmpd="sng" w="33025">
            <a:solidFill>
              <a:srgbClr val="0FCDC7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450" lIns="216450" spcFirstLastPara="1" rIns="216450" wrap="square" tIns="216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FCDC7"/>
              </a:buClr>
              <a:buSzPts val="5209"/>
              <a:buFont typeface="Arial"/>
              <a:buNone/>
            </a:pPr>
            <a:r>
              <a:t/>
            </a:r>
            <a:endParaRPr sz="210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15"/>
          </a:p>
        </p:txBody>
      </p:sp>
      <p:sp>
        <p:nvSpPr>
          <p:cNvPr id="85" name="Google Shape;85;g3ea021711a2_0_1"/>
          <p:cNvSpPr/>
          <p:nvPr/>
        </p:nvSpPr>
        <p:spPr>
          <a:xfrm>
            <a:off x="4450492" y="1075285"/>
            <a:ext cx="329070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CDC7"/>
              </a:buClr>
              <a:buSzPts val="5209"/>
              <a:buFont typeface="Arial"/>
              <a:buNone/>
            </a:pPr>
            <a:r>
              <a:rPr b="1" lang="en-US" sz="2109">
                <a:solidFill>
                  <a:srgbClr val="0FCDC7"/>
                </a:solidFill>
              </a:rPr>
              <a:t>Modelo Data Build Tool (DBT)</a:t>
            </a:r>
            <a:endParaRPr b="0" i="0" sz="210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ea021711a2_0_1"/>
          <p:cNvSpPr txBox="1"/>
          <p:nvPr/>
        </p:nvSpPr>
        <p:spPr>
          <a:xfrm>
            <a:off x="1958375" y="1833075"/>
            <a:ext cx="53046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2495" lvl="0" marL="457200" rtl="0" algn="l">
              <a:spcBef>
                <a:spcPts val="0"/>
              </a:spcBef>
              <a:spcAft>
                <a:spcPts val="0"/>
              </a:spcAft>
              <a:buClr>
                <a:srgbClr val="0FCDC7"/>
              </a:buClr>
              <a:buSzPts val="2109"/>
              <a:buChar char="-"/>
            </a:pPr>
            <a:r>
              <a:rPr b="1" lang="en-US" sz="2109">
                <a:solidFill>
                  <a:srgbClr val="0FCDC7"/>
                </a:solidFill>
              </a:rPr>
              <a:t>28 variables</a:t>
            </a:r>
            <a:endParaRPr b="1" sz="2109">
              <a:solidFill>
                <a:srgbClr val="0FCDC7"/>
              </a:solidFill>
            </a:endParaRPr>
          </a:p>
        </p:txBody>
      </p:sp>
      <p:graphicFrame>
        <p:nvGraphicFramePr>
          <p:cNvPr id="87" name="Google Shape;87;g3ea021711a2_0_1"/>
          <p:cNvGraphicFramePr/>
          <p:nvPr/>
        </p:nvGraphicFramePr>
        <p:xfrm>
          <a:off x="1831788" y="2643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{DDC81FC9-FC8C-4442-AE4A-2CFAE799D46C}</a:tableStyleId>
              </a:tblPr>
              <a:tblGrid>
                <a:gridCol w="2236800"/>
                <a:gridCol w="2236800"/>
                <a:gridCol w="2236800"/>
                <a:gridCol w="2236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age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total_exposure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max_dpd_1m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paid_at_least_minimum_score_6m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vintage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credit_line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max_dpd_2m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last_statement_ratio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is_thin_file (0,1)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proportion_of_credit_line_used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max_dpd_3m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avg_payment_ratio_last_5m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risk_band_cck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total_deposits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max_dpd_6m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delta_payment_ratio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risk_band_pl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type_of_user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max_dpd_12m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dep_minus_exp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payment_configuration_setting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paid_at_least_minimum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count_delinquencies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FFFF"/>
                          </a:solidFill>
                        </a:rPr>
                        <a:t>change_proportion_credit_line_used_vs_1m_prior</a:t>
                      </a:r>
                      <a:endParaRPr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457200" y="2926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F7FAFC"/>
                </a:solidFill>
                <a:latin typeface="Play"/>
                <a:ea typeface="Play"/>
                <a:cs typeface="Play"/>
                <a:sym typeface="Play"/>
              </a:rPr>
              <a:t>Modelo: </a:t>
            </a:r>
            <a:r>
              <a:rPr b="1" lang="en-US" sz="2600">
                <a:solidFill>
                  <a:srgbClr val="F7FAFC"/>
                </a:solidFill>
                <a:latin typeface="Play"/>
                <a:ea typeface="Play"/>
                <a:cs typeface="Play"/>
                <a:sym typeface="Play"/>
              </a:rPr>
              <a:t>XGBoost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4"/>
          <p:cNvCxnSpPr/>
          <p:nvPr/>
        </p:nvCxnSpPr>
        <p:spPr>
          <a:xfrm>
            <a:off x="457200" y="804672"/>
            <a:ext cx="1097280" cy="0"/>
          </a:xfrm>
          <a:prstGeom prst="straightConnector1">
            <a:avLst/>
          </a:prstGeom>
          <a:noFill/>
          <a:ln cap="flat" cmpd="sng" w="30475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4"/>
          <p:cNvSpPr/>
          <p:nvPr/>
        </p:nvSpPr>
        <p:spPr>
          <a:xfrm>
            <a:off x="640080" y="1143000"/>
            <a:ext cx="5120640" cy="1325880"/>
          </a:xfrm>
          <a:prstGeom prst="roundRect">
            <a:avLst>
              <a:gd fmla="val 5517" name="adj"/>
            </a:avLst>
          </a:prstGeom>
          <a:solidFill>
            <a:srgbClr val="0D2238">
              <a:alpha val="92156"/>
            </a:srgbClr>
          </a:solidFill>
          <a:ln cap="flat" cmpd="sng" w="13950">
            <a:solidFill>
              <a:srgbClr val="00C2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914400" y="141732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C2FF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914400" y="1783080"/>
            <a:ext cx="4526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40"/>
              <a:buFont typeface="Arial"/>
              <a:buNone/>
            </a:pPr>
            <a:r>
              <a:rPr lang="en-US" sz="1440">
                <a:solidFill>
                  <a:srgbClr val="F7FAFC"/>
                </a:solidFill>
              </a:rPr>
              <a:t>Un usuario pague por lo menos el </a:t>
            </a:r>
            <a:r>
              <a:rPr lang="en-US" sz="1440">
                <a:solidFill>
                  <a:srgbClr val="F7FAFC"/>
                </a:solidFill>
              </a:rPr>
              <a:t>mínimo</a:t>
            </a:r>
            <a:r>
              <a:rPr lang="en-US" sz="1440">
                <a:solidFill>
                  <a:srgbClr val="F7FAFC"/>
                </a:solidFill>
              </a:rPr>
              <a:t> en su fecha de pago</a:t>
            </a:r>
            <a:endParaRPr b="0" i="0" sz="14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400800" y="1143000"/>
            <a:ext cx="5120640" cy="1325880"/>
          </a:xfrm>
          <a:prstGeom prst="roundRect">
            <a:avLst>
              <a:gd fmla="val 5517" name="adj"/>
            </a:avLst>
          </a:prstGeom>
          <a:solidFill>
            <a:srgbClr val="0D2238">
              <a:alpha val="92156"/>
            </a:srgbClr>
          </a:solidFill>
          <a:ln cap="flat" cmpd="sng" w="13950">
            <a:solidFill>
              <a:srgbClr val="FFB24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675120" y="141732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24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B24A"/>
                </a:solidFill>
                <a:latin typeface="Arial"/>
                <a:ea typeface="Arial"/>
                <a:cs typeface="Arial"/>
                <a:sym typeface="Arial"/>
              </a:rPr>
              <a:t>Población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675120" y="1783080"/>
            <a:ext cx="4526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40"/>
              <a:buFont typeface="Arial"/>
              <a:buNone/>
            </a:pPr>
            <a:r>
              <a:rPr lang="en-US" sz="1440">
                <a:solidFill>
                  <a:srgbClr val="F7FAFC"/>
                </a:solidFill>
              </a:rPr>
              <a:t>Todos los usuarios con monto a pagar &gt;0. Excluyendo a un </a:t>
            </a:r>
            <a:r>
              <a:rPr lang="en-US" sz="1440">
                <a:solidFill>
                  <a:srgbClr val="F7FAFC"/>
                </a:solidFill>
              </a:rPr>
              <a:t>cohorte</a:t>
            </a:r>
            <a:r>
              <a:rPr lang="en-US" sz="1440">
                <a:solidFill>
                  <a:srgbClr val="F7FAFC"/>
                </a:solidFill>
              </a:rPr>
              <a:t> de usuarios (negocio)</a:t>
            </a:r>
            <a:endParaRPr b="0" i="0" sz="14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85800" y="2999232"/>
            <a:ext cx="10789920" cy="1188720"/>
          </a:xfrm>
          <a:prstGeom prst="roundRect">
            <a:avLst>
              <a:gd fmla="val 6154" name="adj"/>
            </a:avLst>
          </a:prstGeom>
          <a:solidFill>
            <a:srgbClr val="07111F">
              <a:alpha val="92156"/>
            </a:srgbClr>
          </a:solidFill>
          <a:ln cap="flat" cmpd="sng" w="13950">
            <a:solidFill>
              <a:srgbClr val="1C3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914400" y="3246120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C2FF"/>
                </a:solidFill>
                <a:latin typeface="Arial"/>
                <a:ea typeface="Arial"/>
                <a:cs typeface="Arial"/>
                <a:sym typeface="Arial"/>
              </a:rPr>
              <a:t>Train (2024-2025)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914400" y="356616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1.5M filas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914400" y="3858768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5C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7B5C7"/>
                </a:solidFill>
                <a:latin typeface="Arial"/>
                <a:ea typeface="Arial"/>
                <a:cs typeface="Arial"/>
                <a:sym typeface="Arial"/>
              </a:rPr>
              <a:t>52.79% pay rate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520440" y="3246120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CDC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FCDC7"/>
                </a:solidFill>
                <a:latin typeface="Arial"/>
                <a:ea typeface="Arial"/>
                <a:cs typeface="Arial"/>
                <a:sym typeface="Arial"/>
              </a:rPr>
              <a:t>Validación Jan–Feb 2026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520440" y="356616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2.09M filas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520440" y="3858768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5C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7B5C7"/>
                </a:solidFill>
                <a:latin typeface="Arial"/>
                <a:ea typeface="Arial"/>
                <a:cs typeface="Arial"/>
                <a:sym typeface="Arial"/>
              </a:rPr>
              <a:t>62.42% pay rate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126480" y="3246120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24A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B24A"/>
                </a:solidFill>
                <a:latin typeface="Arial"/>
                <a:ea typeface="Arial"/>
                <a:cs typeface="Arial"/>
                <a:sym typeface="Arial"/>
              </a:rPr>
              <a:t>Test marzo 2026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126480" y="356616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1.07M filas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126480" y="3858768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5C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7B5C7"/>
                </a:solidFill>
                <a:latin typeface="Arial"/>
                <a:ea typeface="Arial"/>
                <a:cs typeface="Arial"/>
                <a:sym typeface="Arial"/>
              </a:rPr>
              <a:t>62.92% pay rate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8732520" y="3246120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D68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58D68D"/>
                </a:solidFill>
                <a:latin typeface="Arial"/>
                <a:ea typeface="Arial"/>
                <a:cs typeface="Arial"/>
                <a:sym typeface="Arial"/>
              </a:rPr>
              <a:t>Test abril 2026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732520" y="356616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7FAFC"/>
                </a:solidFill>
              </a:rPr>
              <a:t>1.1 M</a:t>
            </a:r>
            <a:r>
              <a:rPr b="1" i="0" lang="en-US" sz="13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 filas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732520" y="3858768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5C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7B5C7"/>
                </a:solidFill>
                <a:latin typeface="Arial"/>
                <a:ea typeface="Arial"/>
                <a:cs typeface="Arial"/>
                <a:sym typeface="Arial"/>
              </a:rPr>
              <a:t>65.70% pay rate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85800" y="4800600"/>
            <a:ext cx="10789920" cy="594360"/>
          </a:xfrm>
          <a:prstGeom prst="roundRect">
            <a:avLst>
              <a:gd fmla="val 12308" name="adj"/>
            </a:avLst>
          </a:prstGeom>
          <a:solidFill>
            <a:srgbClr val="0D2238">
              <a:alpha val="92156"/>
            </a:srgbClr>
          </a:solidFill>
          <a:ln cap="flat" cmpd="sng" w="13950">
            <a:solidFill>
              <a:srgbClr val="00C2FF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914400" y="4983480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La separación temporal responde a la pregunta real: qué tan bien generaliza el modelo en meses futuros.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457200" y="2926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7FAFC"/>
                </a:solidFill>
                <a:latin typeface="Play"/>
                <a:ea typeface="Play"/>
                <a:cs typeface="Play"/>
                <a:sym typeface="Play"/>
              </a:rPr>
              <a:t>Cómo se evaluó si el modelo está correcto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p5"/>
          <p:cNvCxnSpPr/>
          <p:nvPr/>
        </p:nvCxnSpPr>
        <p:spPr>
          <a:xfrm>
            <a:off x="457200" y="804672"/>
            <a:ext cx="1097280" cy="0"/>
          </a:xfrm>
          <a:prstGeom prst="straightConnector1">
            <a:avLst/>
          </a:prstGeom>
          <a:noFill/>
          <a:ln cap="flat" cmpd="sng" w="30475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5"/>
          <p:cNvSpPr/>
          <p:nvPr/>
        </p:nvSpPr>
        <p:spPr>
          <a:xfrm>
            <a:off x="685800" y="1143000"/>
            <a:ext cx="5166360" cy="4069080"/>
          </a:xfrm>
          <a:prstGeom prst="roundRect">
            <a:avLst>
              <a:gd fmla="val 1798" name="adj"/>
            </a:avLst>
          </a:prstGeom>
          <a:solidFill>
            <a:srgbClr val="0D2238">
              <a:alpha val="92156"/>
            </a:srgbClr>
          </a:solidFill>
          <a:ln cap="flat" cmpd="sng" w="13950">
            <a:solidFill>
              <a:srgbClr val="00C2FF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960120" y="146304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1050"/>
              <a:buFont typeface="Arial"/>
              <a:buNone/>
            </a:pPr>
            <a:r>
              <a:rPr b="1" i="0" lang="en-US" sz="1450" u="none" cap="none" strike="noStrike">
                <a:solidFill>
                  <a:srgbClr val="00C2FF"/>
                </a:solidFill>
                <a:latin typeface="Arial"/>
                <a:ea typeface="Arial"/>
                <a:cs typeface="Arial"/>
                <a:sym typeface="Arial"/>
              </a:rPr>
              <a:t>Evaluación histórica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60120" y="1874520"/>
            <a:ext cx="4572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El resultado real se conoce después de la fecha límite.</a:t>
            </a:r>
            <a:endParaRPr b="0" i="0" sz="1400" u="none" cap="none" strike="noStrike">
              <a:solidFill>
                <a:srgbClr val="F7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F7FA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Se compara probabilidad vs. pago observado.</a:t>
            </a:r>
            <a:endParaRPr>
              <a:solidFill>
                <a:srgbClr val="F7FA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F7FA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Marzo y abril no fueron usados para entrenar.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355080" y="1143000"/>
            <a:ext cx="5166360" cy="4069080"/>
          </a:xfrm>
          <a:prstGeom prst="roundRect">
            <a:avLst>
              <a:gd fmla="val 1798" name="adj"/>
            </a:avLst>
          </a:prstGeom>
          <a:solidFill>
            <a:srgbClr val="0D2238">
              <a:alpha val="92156"/>
            </a:srgbClr>
          </a:solidFill>
          <a:ln cap="flat" cmpd="sng" w="13950">
            <a:solidFill>
              <a:srgbClr val="FFB24A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6629400" y="146304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24A"/>
              </a:buClr>
              <a:buSzPts val="1050"/>
              <a:buFont typeface="Arial"/>
              <a:buNone/>
            </a:pPr>
            <a:r>
              <a:rPr b="1" i="0" lang="en-US" sz="1450" u="none" cap="none" strike="noStrike">
                <a:solidFill>
                  <a:srgbClr val="FFB24A"/>
                </a:solidFill>
                <a:latin typeface="Arial"/>
                <a:ea typeface="Arial"/>
                <a:cs typeface="Arial"/>
                <a:sym typeface="Arial"/>
              </a:rPr>
              <a:t>Métricas principales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629400" y="1874520"/>
            <a:ext cx="4572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Top-30 capture: métrica de negocio.</a:t>
            </a:r>
            <a:endParaRPr b="0" i="0" sz="1400" u="none" cap="none" strike="noStrike">
              <a:solidFill>
                <a:srgbClr val="F7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F7FA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PR AUC: ranking de no pagadores.</a:t>
            </a:r>
            <a:endParaRPr b="0" i="0" sz="1400" u="none" cap="none" strike="noStrike">
              <a:solidFill>
                <a:srgbClr val="F7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85800" y="5577840"/>
            <a:ext cx="10835640" cy="566928"/>
          </a:xfrm>
          <a:prstGeom prst="roundRect">
            <a:avLst>
              <a:gd fmla="val 12903" name="adj"/>
            </a:avLst>
          </a:prstGeom>
          <a:solidFill>
            <a:srgbClr val="07111F">
              <a:alpha val="92156"/>
            </a:srgbClr>
          </a:solidFill>
          <a:ln cap="flat" cmpd="sng" w="13950">
            <a:solidFill>
              <a:srgbClr val="58D68D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914400" y="5742432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lang="en-US" sz="1350">
                <a:solidFill>
                  <a:srgbClr val="F7FAFC"/>
                </a:solidFill>
              </a:rPr>
              <a:t>la implementación los </a:t>
            </a:r>
            <a:r>
              <a:rPr b="0" i="0" lang="en-US" sz="135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deci</a:t>
            </a:r>
            <a:r>
              <a:rPr lang="en-US" sz="1350">
                <a:solidFill>
                  <a:srgbClr val="F7FAFC"/>
                </a:solidFill>
              </a:rPr>
              <a:t>les</a:t>
            </a:r>
            <a:r>
              <a:rPr b="0" i="0" lang="en-US" sz="135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 son más útiles que un único umbral fijo.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/>
        </p:nvSpPr>
        <p:spPr>
          <a:xfrm>
            <a:off x="457200" y="2926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7FAFC"/>
                </a:solidFill>
                <a:latin typeface="Play"/>
                <a:ea typeface="Play"/>
                <a:cs typeface="Play"/>
                <a:sym typeface="Play"/>
              </a:rPr>
              <a:t>Resultado central: concentración del riesgo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6"/>
          <p:cNvCxnSpPr/>
          <p:nvPr/>
        </p:nvCxnSpPr>
        <p:spPr>
          <a:xfrm>
            <a:off x="457200" y="804672"/>
            <a:ext cx="1097280" cy="0"/>
          </a:xfrm>
          <a:prstGeom prst="straightConnector1">
            <a:avLst/>
          </a:prstGeom>
          <a:noFill/>
          <a:ln cap="flat" cmpd="sng" w="30475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extract/slide6_pic2.png" id="138" name="Google Shape;1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199111"/>
            <a:ext cx="5577840" cy="30424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extract/slide6_pic3.png" id="139" name="Google Shape;13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1851660"/>
            <a:ext cx="521208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685800" y="4800600"/>
            <a:ext cx="10835640" cy="822960"/>
          </a:xfrm>
          <a:prstGeom prst="roundRect">
            <a:avLst>
              <a:gd fmla="val 8889" name="adj"/>
            </a:avLst>
          </a:prstGeom>
          <a:solidFill>
            <a:srgbClr val="0D2238">
              <a:alpha val="92156"/>
            </a:srgbClr>
          </a:solidFill>
          <a:ln cap="flat" cmpd="sng" w="13950">
            <a:solidFill>
              <a:srgbClr val="00C2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914400" y="5047488"/>
            <a:ext cx="10332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F7FAFC"/>
                </a:solidFill>
              </a:rPr>
              <a:t>L</a:t>
            </a:r>
            <a:r>
              <a:rPr b="0" i="0" lang="en-US" sz="145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os primeros 3 deciles capturan 71.78% de no pagadores. Esto permite priorizar tratamientos intensivos en una fracción acotada de usuarios.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457200" y="2926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7FAFC"/>
                </a:solidFill>
                <a:latin typeface="Play"/>
                <a:ea typeface="Play"/>
                <a:cs typeface="Play"/>
                <a:sym typeface="Play"/>
              </a:rPr>
              <a:t>Fine tuning: 15 candidatos, top 3 muy cercanos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7"/>
          <p:cNvCxnSpPr/>
          <p:nvPr/>
        </p:nvCxnSpPr>
        <p:spPr>
          <a:xfrm>
            <a:off x="457200" y="804672"/>
            <a:ext cx="1097280" cy="0"/>
          </a:xfrm>
          <a:prstGeom prst="straightConnector1">
            <a:avLst/>
          </a:prstGeom>
          <a:noFill/>
          <a:ln cap="flat" cmpd="sng" w="30475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extract/slide7_pic2.png"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219200"/>
            <a:ext cx="6400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/>
          <p:nvPr/>
        </p:nvSpPr>
        <p:spPr>
          <a:xfrm>
            <a:off x="7406640" y="1097280"/>
            <a:ext cx="4160520" cy="3886200"/>
          </a:xfrm>
          <a:prstGeom prst="roundRect">
            <a:avLst>
              <a:gd fmla="val 1882" name="adj"/>
            </a:avLst>
          </a:prstGeom>
          <a:solidFill>
            <a:srgbClr val="0D2238">
              <a:alpha val="92156"/>
            </a:srgbClr>
          </a:solidFill>
          <a:ln cap="flat" cmpd="sng" w="13950">
            <a:solidFill>
              <a:srgbClr val="FFB24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726680" y="141732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24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B24A"/>
                </a:solidFill>
                <a:latin typeface="Arial"/>
                <a:ea typeface="Arial"/>
                <a:cs typeface="Arial"/>
                <a:sym typeface="Arial"/>
              </a:rPr>
              <a:t>Top 3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726680" y="1874520"/>
            <a:ext cx="3474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1. c04_depth5_lambda10: 71.739%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2. c14_depth5_lr035_child35: 71.735%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3. c07_depth5_child50: 71.735%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7726680" y="3584448"/>
            <a:ext cx="3383280" cy="0"/>
          </a:xfrm>
          <a:prstGeom prst="straightConnector1">
            <a:avLst/>
          </a:prstGeom>
          <a:noFill/>
          <a:ln cap="flat" cmpd="sng" w="15225">
            <a:solidFill>
              <a:srgbClr val="1C34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726680" y="38862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Decisión: usar c04 como piloto.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/>
          <p:nvPr/>
        </p:nvSpPr>
        <p:spPr>
          <a:xfrm>
            <a:off x="457200" y="2926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7FAFC"/>
                </a:solidFill>
                <a:latin typeface="Play"/>
                <a:ea typeface="Play"/>
                <a:cs typeface="Play"/>
                <a:sym typeface="Play"/>
              </a:rPr>
              <a:t>Qué variables explican el riesgo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8"/>
          <p:cNvCxnSpPr/>
          <p:nvPr/>
        </p:nvCxnSpPr>
        <p:spPr>
          <a:xfrm>
            <a:off x="457200" y="804672"/>
            <a:ext cx="1097280" cy="0"/>
          </a:xfrm>
          <a:prstGeom prst="straightConnector1">
            <a:avLst/>
          </a:prstGeom>
          <a:noFill/>
          <a:ln cap="flat" cmpd="sng" w="30475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extract/slide8_pic2.png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032000"/>
            <a:ext cx="6492240" cy="288544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7269480" y="1097280"/>
            <a:ext cx="4343400" cy="4480560"/>
          </a:xfrm>
          <a:prstGeom prst="roundRect">
            <a:avLst>
              <a:gd fmla="val 1684" name="adj"/>
            </a:avLst>
          </a:prstGeom>
          <a:solidFill>
            <a:srgbClr val="0D2238">
              <a:alpha val="92156"/>
            </a:srgbClr>
          </a:solidFill>
          <a:ln cap="flat" cmpd="sng" w="13950">
            <a:solidFill>
              <a:srgbClr val="00C2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7543800" y="1553650"/>
            <a:ext cx="370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00C2FF"/>
                </a:solidFill>
                <a:latin typeface="Arial"/>
                <a:ea typeface="Arial"/>
                <a:cs typeface="Arial"/>
                <a:sym typeface="Arial"/>
              </a:rPr>
              <a:t>• Mora reciente domina el ranking.</a:t>
            </a:r>
            <a:endParaRPr b="0" i="0" sz="1600" u="none" cap="none" strike="noStrike">
              <a:solidFill>
                <a:srgbClr val="00C2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rgbClr val="00C2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00C2FF"/>
                </a:solidFill>
                <a:latin typeface="Arial"/>
                <a:ea typeface="Arial"/>
                <a:cs typeface="Arial"/>
                <a:sym typeface="Arial"/>
              </a:rPr>
              <a:t>• Historial de pago confirma comportamiento recurrente.</a:t>
            </a:r>
            <a:endParaRPr b="0" i="0" sz="1600" u="none" cap="none" strike="noStrike">
              <a:solidFill>
                <a:srgbClr val="00C2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rgbClr val="00C2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00C2FF"/>
                </a:solidFill>
                <a:latin typeface="Arial"/>
                <a:ea typeface="Arial"/>
                <a:cs typeface="Arial"/>
                <a:sym typeface="Arial"/>
              </a:rPr>
              <a:t>• Depósitos, exposición y mínimo explican capacidad de pago.</a:t>
            </a:r>
            <a:endParaRPr b="0" i="0" sz="1600" u="none" cap="none" strike="noStrike">
              <a:solidFill>
                <a:srgbClr val="00C2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rgbClr val="00C2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00C2FF"/>
                </a:solidFill>
                <a:latin typeface="Arial"/>
                <a:ea typeface="Arial"/>
                <a:cs typeface="Arial"/>
                <a:sym typeface="Arial"/>
              </a:rPr>
              <a:t>• El modelo no depende de una sola variable.</a:t>
            </a:r>
            <a:endParaRPr b="0" i="0" sz="1600" u="none" cap="none" strike="noStrike">
              <a:solidFill>
                <a:srgbClr val="00C2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/>
          <p:nvPr/>
        </p:nvSpPr>
        <p:spPr>
          <a:xfrm>
            <a:off x="457200" y="2926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7FAFC"/>
                </a:solidFill>
                <a:latin typeface="Play"/>
                <a:ea typeface="Play"/>
                <a:cs typeface="Play"/>
                <a:sym typeface="Play"/>
              </a:rPr>
              <a:t>Performance en </a:t>
            </a:r>
            <a:r>
              <a:rPr b="1" lang="en-US" sz="2600">
                <a:solidFill>
                  <a:srgbClr val="F7FAFC"/>
                </a:solidFill>
                <a:latin typeface="Play"/>
                <a:ea typeface="Play"/>
                <a:cs typeface="Play"/>
                <a:sym typeface="Play"/>
              </a:rPr>
              <a:t>abril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9"/>
          <p:cNvCxnSpPr/>
          <p:nvPr/>
        </p:nvCxnSpPr>
        <p:spPr>
          <a:xfrm>
            <a:off x="457200" y="804672"/>
            <a:ext cx="1097280" cy="0"/>
          </a:xfrm>
          <a:prstGeom prst="straightConnector1">
            <a:avLst/>
          </a:prstGeom>
          <a:noFill/>
          <a:ln cap="flat" cmpd="sng" w="30475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extract/slide9_pic2.png" id="172" name="Google Shape;1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871254"/>
            <a:ext cx="6035040" cy="2155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extract/slide9_pic3.png" id="173" name="Google Shape;17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3720" y="1087483"/>
            <a:ext cx="4343400" cy="372291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/>
          <p:nvPr/>
        </p:nvSpPr>
        <p:spPr>
          <a:xfrm>
            <a:off x="685800" y="5257800"/>
            <a:ext cx="10835640" cy="548640"/>
          </a:xfrm>
          <a:prstGeom prst="roundRect">
            <a:avLst>
              <a:gd fmla="val 13333" name="adj"/>
            </a:avLst>
          </a:prstGeom>
          <a:solidFill>
            <a:srgbClr val="0D2238">
              <a:alpha val="92156"/>
            </a:srgbClr>
          </a:solidFill>
          <a:ln cap="flat" cmpd="sng" w="13950">
            <a:solidFill>
              <a:srgbClr val="FFB24A">
                <a:alpha val="7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914400" y="5413248"/>
            <a:ext cx="10332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La matriz de confusión depende del threshold. Para negocio, conviene operar con probabilidad y deciles para ajustar campañas.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high_tech_abstract_data_ai_pipeline_illustration_batch_3_dark.png" id="181" name="Google Shape;181;p10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0" y="0"/>
            <a:ext cx="1219169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0"/>
          <p:cNvSpPr/>
          <p:nvPr/>
        </p:nvSpPr>
        <p:spPr>
          <a:xfrm>
            <a:off x="457200" y="2926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7FAFC"/>
                </a:solidFill>
                <a:latin typeface="Play"/>
                <a:ea typeface="Play"/>
                <a:cs typeface="Play"/>
                <a:sym typeface="Play"/>
              </a:rPr>
              <a:t>Despliegue propuesto en Mage AI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10"/>
          <p:cNvCxnSpPr/>
          <p:nvPr/>
        </p:nvCxnSpPr>
        <p:spPr>
          <a:xfrm>
            <a:off x="457200" y="804672"/>
            <a:ext cx="1097280" cy="0"/>
          </a:xfrm>
          <a:prstGeom prst="straightConnector1">
            <a:avLst/>
          </a:prstGeom>
          <a:noFill/>
          <a:ln cap="flat" cmpd="sng" w="30475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10"/>
          <p:cNvSpPr/>
          <p:nvPr/>
        </p:nvSpPr>
        <p:spPr>
          <a:xfrm>
            <a:off x="594360" y="1920240"/>
            <a:ext cx="1874400" cy="914400"/>
          </a:xfrm>
          <a:prstGeom prst="roundRect">
            <a:avLst>
              <a:gd fmla="val 8000" name="adj"/>
            </a:avLst>
          </a:prstGeom>
          <a:solidFill>
            <a:srgbClr val="07111F">
              <a:alpha val="92156"/>
            </a:srgbClr>
          </a:solidFill>
          <a:ln cap="flat" cmpd="sng" w="13950">
            <a:solidFill>
              <a:srgbClr val="00C2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704088" y="2148840"/>
            <a:ext cx="164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C2FF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704088" y="2432304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cutoff diario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10"/>
          <p:cNvCxnSpPr/>
          <p:nvPr/>
        </p:nvCxnSpPr>
        <p:spPr>
          <a:xfrm>
            <a:off x="2496312" y="2377440"/>
            <a:ext cx="384048" cy="0"/>
          </a:xfrm>
          <a:prstGeom prst="straightConnector1">
            <a:avLst/>
          </a:prstGeom>
          <a:noFill/>
          <a:ln cap="flat" cmpd="sng" w="20300">
            <a:solidFill>
              <a:srgbClr val="FFB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8" name="Google Shape;188;p10"/>
          <p:cNvSpPr/>
          <p:nvPr/>
        </p:nvSpPr>
        <p:spPr>
          <a:xfrm>
            <a:off x="2898648" y="1920240"/>
            <a:ext cx="1874400" cy="914400"/>
          </a:xfrm>
          <a:prstGeom prst="roundRect">
            <a:avLst>
              <a:gd fmla="val 8000" name="adj"/>
            </a:avLst>
          </a:prstGeom>
          <a:solidFill>
            <a:srgbClr val="07111F">
              <a:alpha val="92160"/>
            </a:srgbClr>
          </a:solidFill>
          <a:ln cap="flat" cmpd="sng" w="13950">
            <a:solidFill>
              <a:srgbClr val="00C2FF">
                <a:alpha val="7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3008376" y="21488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C2FF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008376" y="2432304"/>
            <a:ext cx="164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10"/>
          <p:cNvCxnSpPr/>
          <p:nvPr/>
        </p:nvCxnSpPr>
        <p:spPr>
          <a:xfrm>
            <a:off x="4800600" y="2377440"/>
            <a:ext cx="384048" cy="0"/>
          </a:xfrm>
          <a:prstGeom prst="straightConnector1">
            <a:avLst/>
          </a:prstGeom>
          <a:noFill/>
          <a:ln cap="flat" cmpd="sng" w="20300">
            <a:solidFill>
              <a:srgbClr val="FFB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2" name="Google Shape;192;p10"/>
          <p:cNvSpPr/>
          <p:nvPr/>
        </p:nvSpPr>
        <p:spPr>
          <a:xfrm>
            <a:off x="5202936" y="1920240"/>
            <a:ext cx="1874400" cy="914400"/>
          </a:xfrm>
          <a:prstGeom prst="roundRect">
            <a:avLst>
              <a:gd fmla="val 8000" name="adj"/>
            </a:avLst>
          </a:prstGeom>
          <a:solidFill>
            <a:srgbClr val="07111F">
              <a:alpha val="92156"/>
            </a:srgbClr>
          </a:solidFill>
          <a:ln cap="flat" cmpd="sng" w="13950">
            <a:solidFill>
              <a:srgbClr val="00C2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5312664" y="2148840"/>
            <a:ext cx="164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C2FF"/>
                </a:solidFill>
                <a:latin typeface="Arial"/>
                <a:ea typeface="Arial"/>
                <a:cs typeface="Arial"/>
                <a:sym typeface="Arial"/>
              </a:rPr>
              <a:t>Joblib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5312664" y="2432304"/>
            <a:ext cx="164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preprocessor + XGB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10"/>
          <p:cNvCxnSpPr/>
          <p:nvPr/>
        </p:nvCxnSpPr>
        <p:spPr>
          <a:xfrm>
            <a:off x="7104888" y="2377440"/>
            <a:ext cx="384000" cy="0"/>
          </a:xfrm>
          <a:prstGeom prst="straightConnector1">
            <a:avLst/>
          </a:prstGeom>
          <a:noFill/>
          <a:ln cap="flat" cmpd="sng" w="20300">
            <a:solidFill>
              <a:srgbClr val="FFB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" name="Google Shape;196;p10"/>
          <p:cNvSpPr/>
          <p:nvPr/>
        </p:nvSpPr>
        <p:spPr>
          <a:xfrm>
            <a:off x="7507224" y="1920240"/>
            <a:ext cx="1874400" cy="914400"/>
          </a:xfrm>
          <a:prstGeom prst="roundRect">
            <a:avLst>
              <a:gd fmla="val 8000" name="adj"/>
            </a:avLst>
          </a:prstGeom>
          <a:solidFill>
            <a:srgbClr val="07111F">
              <a:alpha val="92156"/>
            </a:srgbClr>
          </a:solidFill>
          <a:ln cap="flat" cmpd="sng" w="13950">
            <a:solidFill>
              <a:srgbClr val="00C2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7616952" y="2148840"/>
            <a:ext cx="164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C2FF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7616952" y="2432304"/>
            <a:ext cx="164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probabilidad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10"/>
          <p:cNvCxnSpPr/>
          <p:nvPr/>
        </p:nvCxnSpPr>
        <p:spPr>
          <a:xfrm>
            <a:off x="9409176" y="2377440"/>
            <a:ext cx="384000" cy="0"/>
          </a:xfrm>
          <a:prstGeom prst="straightConnector1">
            <a:avLst/>
          </a:prstGeom>
          <a:noFill/>
          <a:ln cap="flat" cmpd="sng" w="20300">
            <a:solidFill>
              <a:srgbClr val="FFB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0" name="Google Shape;200;p10"/>
          <p:cNvSpPr/>
          <p:nvPr/>
        </p:nvSpPr>
        <p:spPr>
          <a:xfrm>
            <a:off x="9811512" y="1920240"/>
            <a:ext cx="1874400" cy="914400"/>
          </a:xfrm>
          <a:prstGeom prst="roundRect">
            <a:avLst>
              <a:gd fmla="val 8000" name="adj"/>
            </a:avLst>
          </a:prstGeom>
          <a:solidFill>
            <a:srgbClr val="07111F">
              <a:alpha val="92156"/>
            </a:srgbClr>
          </a:solidFill>
          <a:ln cap="flat" cmpd="sng" w="13950">
            <a:solidFill>
              <a:srgbClr val="58D68D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9921240" y="2148840"/>
            <a:ext cx="164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D68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8D68D"/>
                </a:solidFill>
                <a:latin typeface="Arial"/>
                <a:ea typeface="Arial"/>
                <a:cs typeface="Arial"/>
                <a:sym typeface="Arial"/>
              </a:rPr>
              <a:t>Customer.io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9921240" y="2432304"/>
            <a:ext cx="164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activación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457200" y="2926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7FAFC"/>
                </a:solidFill>
                <a:latin typeface="Play"/>
                <a:ea typeface="Play"/>
                <a:cs typeface="Play"/>
                <a:sym typeface="Play"/>
              </a:rPr>
              <a:t>Monitoreo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11"/>
          <p:cNvCxnSpPr/>
          <p:nvPr/>
        </p:nvCxnSpPr>
        <p:spPr>
          <a:xfrm>
            <a:off x="457200" y="804672"/>
            <a:ext cx="1097280" cy="0"/>
          </a:xfrm>
          <a:prstGeom prst="straightConnector1">
            <a:avLst/>
          </a:prstGeom>
          <a:noFill/>
          <a:ln cap="flat" cmpd="sng" w="30475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11"/>
          <p:cNvSpPr/>
          <p:nvPr/>
        </p:nvSpPr>
        <p:spPr>
          <a:xfrm>
            <a:off x="1884524" y="1074450"/>
            <a:ext cx="8849100" cy="4709100"/>
          </a:xfrm>
          <a:prstGeom prst="roundRect">
            <a:avLst>
              <a:gd fmla="val 1553" name="adj"/>
            </a:avLst>
          </a:prstGeom>
          <a:solidFill>
            <a:srgbClr val="0D2238">
              <a:alpha val="92156"/>
            </a:srgbClr>
          </a:solidFill>
          <a:ln cap="flat" cmpd="sng" w="13950">
            <a:solidFill>
              <a:srgbClr val="00C2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4616495" y="1481195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FF"/>
              </a:buClr>
              <a:buSzPts val="1050"/>
              <a:buFont typeface="Arial"/>
              <a:buNone/>
            </a:pPr>
            <a:r>
              <a:rPr b="1" i="0" lang="en-US" sz="2150" u="none" cap="none" strike="noStrike">
                <a:solidFill>
                  <a:srgbClr val="00C2FF"/>
                </a:solidFill>
                <a:latin typeface="Arial"/>
                <a:ea typeface="Arial"/>
                <a:cs typeface="Arial"/>
                <a:sym typeface="Arial"/>
              </a:rPr>
              <a:t>Monitorear mensualmente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2322300" y="2058625"/>
            <a:ext cx="5523000" cy="31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0" i="0" lang="en-US" sz="17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Volumen y pay rate por mes.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t/>
            </a:r>
            <a:endParaRPr sz="1700">
              <a:solidFill>
                <a:srgbClr val="F7FA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0" i="0" lang="en-US" sz="17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Captura top 10/20/30.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t/>
            </a:r>
            <a:endParaRPr sz="1700">
              <a:solidFill>
                <a:srgbClr val="F7FA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0" i="0" lang="en-US" sz="17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Calibración por </a:t>
            </a:r>
            <a:r>
              <a:rPr lang="en-US" sz="1700">
                <a:solidFill>
                  <a:srgbClr val="F7FAFC"/>
                </a:solidFill>
              </a:rPr>
              <a:t>decil</a:t>
            </a:r>
            <a:r>
              <a:rPr b="0" i="0" lang="en-US" sz="17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t/>
            </a:r>
            <a:endParaRPr sz="1700">
              <a:solidFill>
                <a:srgbClr val="F7FA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0" i="0" lang="en-US" sz="17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PR AUC no pago y Brier score.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t/>
            </a:r>
            <a:endParaRPr sz="1700">
              <a:solidFill>
                <a:srgbClr val="F7FA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0" i="0" lang="en-US" sz="17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Drift en variables principales.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57200" y="64739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750"/>
              <a:buFont typeface="Arial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wide_high_resolution_abstract_tech_visualizatio_batch_1_dark.png" id="219" name="Google Shape;219;p12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2"/>
          <p:cNvSpPr/>
          <p:nvPr/>
        </p:nvSpPr>
        <p:spPr>
          <a:xfrm>
            <a:off x="457200" y="2926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7FAFC"/>
                </a:solidFill>
                <a:latin typeface="Play"/>
                <a:ea typeface="Play"/>
                <a:cs typeface="Play"/>
                <a:sym typeface="Play"/>
              </a:rPr>
              <a:t>Recomendación ejecutiva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12"/>
          <p:cNvCxnSpPr/>
          <p:nvPr/>
        </p:nvCxnSpPr>
        <p:spPr>
          <a:xfrm>
            <a:off x="457200" y="804672"/>
            <a:ext cx="1097280" cy="0"/>
          </a:xfrm>
          <a:prstGeom prst="straightConnector1">
            <a:avLst/>
          </a:prstGeom>
          <a:noFill/>
          <a:ln cap="flat" cmpd="sng" w="30475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12"/>
          <p:cNvSpPr/>
          <p:nvPr/>
        </p:nvSpPr>
        <p:spPr>
          <a:xfrm>
            <a:off x="731520" y="1097280"/>
            <a:ext cx="10789920" cy="4892040"/>
          </a:xfrm>
          <a:prstGeom prst="roundRect">
            <a:avLst>
              <a:gd fmla="val 1495" name="adj"/>
            </a:avLst>
          </a:prstGeom>
          <a:solidFill>
            <a:srgbClr val="07111F"/>
          </a:solidFill>
          <a:ln cap="flat" cmpd="sng" w="13950">
            <a:solidFill>
              <a:srgbClr val="00C2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1097280" y="155448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Avanzar con top1_c04_depth5_lambda10 como piloto de scoring en Mage AI.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1097330" y="2651720"/>
            <a:ext cx="9875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40"/>
              <a:buFont typeface="Arial"/>
              <a:buNone/>
            </a:pPr>
            <a:r>
              <a:rPr b="0" i="0" lang="en-US" sz="144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Captura 71.78% de no pagadores</a:t>
            </a:r>
            <a:r>
              <a:rPr lang="en-US" sz="1440">
                <a:solidFill>
                  <a:srgbClr val="F7FAFC"/>
                </a:solidFill>
              </a:rPr>
              <a:t> </a:t>
            </a:r>
            <a:r>
              <a:rPr b="0" i="0" lang="en-US" sz="144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440">
                <a:solidFill>
                  <a:srgbClr val="F7FAFC"/>
                </a:solidFill>
              </a:rPr>
              <a:t>n el</a:t>
            </a:r>
            <a:r>
              <a:rPr b="0" i="0" lang="en-US" sz="144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 top 30% de riesgo.</a:t>
            </a:r>
            <a:endParaRPr b="0" i="0" sz="1440" u="none" cap="none" strike="noStrike">
              <a:solidFill>
                <a:srgbClr val="F7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40"/>
              <a:buFont typeface="Arial"/>
              <a:buNone/>
            </a:pPr>
            <a:r>
              <a:t/>
            </a:r>
            <a:endParaRPr sz="1440">
              <a:solidFill>
                <a:srgbClr val="F7FA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40"/>
              <a:buFont typeface="Arial"/>
              <a:buNone/>
            </a:pPr>
            <a:r>
              <a:rPr b="0" i="0" lang="en-US" sz="144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Los drivers son coherentes con cobranza: mora, historial, capacidad y carga de pago.</a:t>
            </a:r>
            <a:endParaRPr b="0" i="0" sz="1440" u="none" cap="none" strike="noStrike">
              <a:solidFill>
                <a:srgbClr val="F7FA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40"/>
              <a:buFont typeface="Arial"/>
              <a:buNone/>
            </a:pPr>
            <a:r>
              <a:t/>
            </a:r>
            <a:endParaRPr sz="1440">
              <a:solidFill>
                <a:srgbClr val="F7FA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40"/>
              <a:buFont typeface="Arial"/>
              <a:buNone/>
            </a:pPr>
            <a:r>
              <a:rPr b="0" i="0" lang="en-US" sz="144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La implementación es viable: SQL input, joblib scoring, dataframe output.</a:t>
            </a:r>
            <a:endParaRPr b="0" i="0" sz="14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12"/>
          <p:cNvCxnSpPr/>
          <p:nvPr/>
        </p:nvCxnSpPr>
        <p:spPr>
          <a:xfrm>
            <a:off x="1097280" y="4572000"/>
            <a:ext cx="9875520" cy="0"/>
          </a:xfrm>
          <a:prstGeom prst="straightConnector1">
            <a:avLst/>
          </a:prstGeom>
          <a:noFill/>
          <a:ln cap="flat" cmpd="sng" w="15225">
            <a:solidFill>
              <a:srgbClr val="1C34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2"/>
          <p:cNvSpPr/>
          <p:nvPr/>
        </p:nvSpPr>
        <p:spPr>
          <a:xfrm>
            <a:off x="1097280" y="489204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Siguiente decisión: definir tratamiento por decil y medir uplift operativo con Customer.io.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11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wide_high_resolution_abstract_tech_visualizatio_batch_1_dark.png" id="232" name="Google Shape;232;g3ea021711a2_0_60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69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ea021711a2_0_60"/>
          <p:cNvSpPr/>
          <p:nvPr/>
        </p:nvSpPr>
        <p:spPr>
          <a:xfrm>
            <a:off x="385500" y="2259058"/>
            <a:ext cx="10881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600"/>
              <a:buFont typeface="Play"/>
              <a:buNone/>
            </a:pPr>
            <a:r>
              <a:rPr b="1" lang="en-US" sz="5700">
                <a:solidFill>
                  <a:srgbClr val="F7FAFC"/>
                </a:solidFill>
                <a:latin typeface="Play"/>
                <a:ea typeface="Play"/>
                <a:cs typeface="Play"/>
                <a:sym typeface="Play"/>
              </a:rPr>
              <a:t>Gracias</a:t>
            </a:r>
            <a:endParaRPr b="0" i="0" sz="5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g3ea021711a2_0_60"/>
          <p:cNvCxnSpPr/>
          <p:nvPr/>
        </p:nvCxnSpPr>
        <p:spPr>
          <a:xfrm>
            <a:off x="385500" y="2812072"/>
            <a:ext cx="2625600" cy="4500"/>
          </a:xfrm>
          <a:prstGeom prst="straightConnector1">
            <a:avLst/>
          </a:prstGeom>
          <a:noFill/>
          <a:ln cap="flat" cmpd="sng" w="30475">
            <a:solidFill>
              <a:srgbClr val="00C2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2026-05-24T23:28:03Z</dcterms:created>
  <dc:creator>OpenAI</dc:creator>
</cp:coreProperties>
</file>